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645920"/>
            <a:ext cx="5029200" cy="5029200"/>
          </a:xfrm>
          <a:prstGeom prst="ellipse">
            <a:avLst/>
          </a:prstGeom>
          <a:solidFill>
            <a:srgbClr val="263879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4206240"/>
            <a:ext cx="3840480" cy="3840480"/>
          </a:xfrm>
          <a:prstGeom prst="ellipse">
            <a:avLst/>
          </a:prstGeom>
          <a:solidFill>
            <a:srgbClr val="26387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554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BTP INTEGRATION DEVELOPMENT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Employee Data Synchronization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30175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SAP Integration Suite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3794760"/>
            <a:ext cx="2926080" cy="0"/>
          </a:xfrm>
          <a:prstGeom prst="line">
            <a:avLst/>
          </a:prstGeom>
          <a:noFill/>
          <a:ln w="25400">
            <a:solidFill>
              <a:srgbClr val="F4A3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4160520"/>
            <a:ext cx="7315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Nalumachu Rahul Sai
</a:t>
            </a:r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P-User ID: 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P2012786030
</a:t>
            </a:r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Client: 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GlobalTech Ltd (Training Scenario)
</a:t>
            </a:r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Duration: 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11-08-2026 to 17-08-2026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0" y="1371600"/>
            <a:ext cx="109728" cy="4846320"/>
          </a:xfrm>
          <a:prstGeom prst="rect">
            <a:avLst/>
          </a:prstGeom>
          <a:solidFill>
            <a:srgbClr val="F4A30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554480"/>
            <a:ext cx="64922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Organizations maintain employee information across multiple SAP systems, making manual data transfer and synchronization time-consuming and error-prone. Employee data from SAP SuccessFactors must be regularly retrieved, transformed, and transferred to SAP S/4HANA in the required format.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3520440"/>
            <a:ext cx="6492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also a need to generate employee data files (CSV), securely transfer them via SFTP or email, and identify and communicate integration failures to responsible users.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452360" y="1554480"/>
            <a:ext cx="4114800" cy="1371600"/>
          </a:xfrm>
          <a:prstGeom prst="roundRect">
            <a:avLst>
              <a:gd name="adj" fmla="val 5333"/>
            </a:avLst>
          </a:prstGeom>
          <a:solidFill>
            <a:srgbClr val="F6F8FC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680960" y="17830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768096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21040" y="171907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Effort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321040" y="210312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Time-consuming manual data transfer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452360" y="3154680"/>
            <a:ext cx="4114800" cy="1371600"/>
          </a:xfrm>
          <a:prstGeom prst="roundRect">
            <a:avLst>
              <a:gd name="adj" fmla="val 5333"/>
            </a:avLst>
          </a:prstGeom>
          <a:solidFill>
            <a:srgbClr val="F6F8FC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680960" y="33832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7680960" y="3383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321040" y="331927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Inconsistency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21040" y="370332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Error-prone processing across systems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452360" y="4754880"/>
            <a:ext cx="4114800" cy="1371600"/>
          </a:xfrm>
          <a:prstGeom prst="roundRect">
            <a:avLst>
              <a:gd name="adj" fmla="val 5333"/>
            </a:avLst>
          </a:prstGeom>
          <a:solidFill>
            <a:srgbClr val="F6F8FC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680960" y="49834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7680960" y="4983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321040" y="491947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Visibility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321040" y="530352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Failures not automatically communicated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BTP Integration — Employee Data Synchronization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employee data integration end-to-end using SAP BTP Cloud Integration — from a scheduled trigger through to delivery, with built-in exception handling.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3474720" cy="169164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30428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3042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285292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315468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Timer Start event pulls employee data from SAP SuccessFactors automatically.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43400" y="2103120"/>
            <a:ext cx="3474720" cy="169164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0" y="230428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23042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0" y="285292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0" y="315468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retrieved data into the S/4HANA-required structure.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138160" y="2103120"/>
            <a:ext cx="3474720" cy="169164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66760" y="230428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8366760" y="23042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366760" y="285292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366760" y="315468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transformed data to create employee records in S/4HANA.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4114800"/>
            <a:ext cx="3474720" cy="169164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431596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3159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77240" y="486460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Convert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77240" y="516636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processed employee data from XML to CSV format.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343400" y="4114800"/>
            <a:ext cx="3474720" cy="169164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0" y="431596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0" y="43159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572000" y="486460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Distribute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572000" y="516636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output via SFTP and Email using Sequential Multicast.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138160" y="4114800"/>
            <a:ext cx="3474720" cy="169164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366760" y="431596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/>
        </p:spPr>
      </p:sp>
      <p:sp>
        <p:nvSpPr>
          <p:cNvPr id="31" name="Text 29"/>
          <p:cNvSpPr/>
          <p:nvPr/>
        </p:nvSpPr>
        <p:spPr>
          <a:xfrm>
            <a:off x="8366760" y="43159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366760" y="486460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Handle Errors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366760" y="516636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Subprocess identifies failures and sends notifications.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BTP Integration — Employee Data Synchronization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 Development Life Cycle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Scrum methodology — each phase mapped to capstone build activities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255520" y="1947672"/>
            <a:ext cx="274320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14628" y="1691640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1214628" y="169164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21792" y="2350008"/>
            <a:ext cx="16977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Requirement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Analysis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1792" y="2926080"/>
            <a:ext cx="1697736" cy="3246120"/>
          </a:xfrm>
          <a:prstGeom prst="roundRect">
            <a:avLst>
              <a:gd name="adj" fmla="val 3232"/>
            </a:avLst>
          </a:prstGeom>
          <a:solidFill>
            <a:srgbClr val="F6F8FC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063240"/>
            <a:ext cx="147828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Reviewed problem statement; identified source, target, and downstream systems; documented field mapping.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099560" y="1947672"/>
            <a:ext cx="274320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058668" y="1691640"/>
            <a:ext cx="512064" cy="512064"/>
          </a:xfrm>
          <a:prstGeom prst="ellipse">
            <a:avLst/>
          </a:prstGeom>
          <a:solidFill>
            <a:srgbClr val="3B4A9E"/>
          </a:solidFill>
          <a:ln/>
        </p:spPr>
      </p:sp>
      <p:sp>
        <p:nvSpPr>
          <p:cNvPr id="12" name="Text 10"/>
          <p:cNvSpPr/>
          <p:nvPr/>
        </p:nvSpPr>
        <p:spPr>
          <a:xfrm>
            <a:off x="3058668" y="169164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465832" y="2350008"/>
            <a:ext cx="16977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2465832" y="2926080"/>
            <a:ext cx="1697736" cy="3246120"/>
          </a:xfrm>
          <a:prstGeom prst="roundRect">
            <a:avLst>
              <a:gd name="adj" fmla="val 3232"/>
            </a:avLst>
          </a:prstGeom>
          <a:solidFill>
            <a:srgbClr val="F6F8FC"/>
          </a:solidFill>
          <a:ln/>
        </p:spPr>
      </p:sp>
      <p:sp>
        <p:nvSpPr>
          <p:cNvPr id="15" name="Text 13"/>
          <p:cNvSpPr/>
          <p:nvPr/>
        </p:nvSpPr>
        <p:spPr>
          <a:xfrm>
            <a:off x="2575560" y="3063240"/>
            <a:ext cx="147828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iFlow structure — main sync process + exception sub-process; defined field mapping and landscape.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943600" y="1947672"/>
            <a:ext cx="274320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902708" y="1691640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4902708" y="169164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309872" y="2350008"/>
            <a:ext cx="16977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Development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309872" y="2926080"/>
            <a:ext cx="1697736" cy="3246120"/>
          </a:xfrm>
          <a:prstGeom prst="roundRect">
            <a:avLst>
              <a:gd name="adj" fmla="val 3232"/>
            </a:avLst>
          </a:prstGeom>
          <a:solidFill>
            <a:srgbClr val="F6F8FC"/>
          </a:solidFill>
          <a:ln/>
        </p:spPr>
      </p:sp>
      <p:sp>
        <p:nvSpPr>
          <p:cNvPr id="21" name="Text 19"/>
          <p:cNvSpPr/>
          <p:nvPr/>
        </p:nvSpPr>
        <p:spPr>
          <a:xfrm>
            <a:off x="4419600" y="3063240"/>
            <a:ext cx="147828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the iFlow: OData connections, message mappings, XML-to-CSV converter, SFTP &amp; Mail adapters.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787640" y="1947672"/>
            <a:ext cx="274320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46748" y="1691640"/>
            <a:ext cx="512064" cy="512064"/>
          </a:xfrm>
          <a:prstGeom prst="ellipse">
            <a:avLst/>
          </a:prstGeom>
          <a:solidFill>
            <a:srgbClr val="3B4A9E"/>
          </a:solidFill>
          <a:ln/>
        </p:spPr>
      </p:sp>
      <p:sp>
        <p:nvSpPr>
          <p:cNvPr id="24" name="Text 22"/>
          <p:cNvSpPr/>
          <p:nvPr/>
        </p:nvSpPr>
        <p:spPr>
          <a:xfrm>
            <a:off x="6746748" y="169164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153912" y="2350008"/>
            <a:ext cx="16977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153912" y="2926080"/>
            <a:ext cx="1697736" cy="3246120"/>
          </a:xfrm>
          <a:prstGeom prst="roundRect">
            <a:avLst>
              <a:gd name="adj" fmla="val 3232"/>
            </a:avLst>
          </a:prstGeom>
          <a:solidFill>
            <a:srgbClr val="F6F8FC"/>
          </a:solidFill>
          <a:ln/>
        </p:spPr>
      </p:sp>
      <p:sp>
        <p:nvSpPr>
          <p:cNvPr id="27" name="Text 25"/>
          <p:cNvSpPr/>
          <p:nvPr/>
        </p:nvSpPr>
        <p:spPr>
          <a:xfrm>
            <a:off x="6263640" y="3063240"/>
            <a:ext cx="147828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Executed end-to-end runs; validated CSV output against field mapping; resolved runtime errors.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9631680" y="1947672"/>
            <a:ext cx="274320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590788" y="1691640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0" name="Text 28"/>
          <p:cNvSpPr/>
          <p:nvPr/>
        </p:nvSpPr>
        <p:spPr>
          <a:xfrm>
            <a:off x="8590788" y="169164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997952" y="2350008"/>
            <a:ext cx="16977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7997952" y="2926080"/>
            <a:ext cx="1697736" cy="3246120"/>
          </a:xfrm>
          <a:prstGeom prst="roundRect">
            <a:avLst>
              <a:gd name="adj" fmla="val 3232"/>
            </a:avLst>
          </a:prstGeom>
          <a:solidFill>
            <a:srgbClr val="F6F8FC"/>
          </a:solidFill>
          <a:ln/>
        </p:spPr>
      </p:sp>
      <p:sp>
        <p:nvSpPr>
          <p:cNvPr id="33" name="Text 31"/>
          <p:cNvSpPr/>
          <p:nvPr/>
        </p:nvSpPr>
        <p:spPr>
          <a:xfrm>
            <a:off x="8107680" y="3063240"/>
            <a:ext cx="147828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and activated on SAP CI tenant; verified triggers and completion in CPI Monitor.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10434828" y="1691640"/>
            <a:ext cx="512064" cy="512064"/>
          </a:xfrm>
          <a:prstGeom prst="ellipse">
            <a:avLst/>
          </a:prstGeom>
          <a:solidFill>
            <a:srgbClr val="3B4A9E"/>
          </a:solidFill>
          <a:ln/>
        </p:spPr>
      </p:sp>
      <p:sp>
        <p:nvSpPr>
          <p:cNvPr id="35" name="Text 33"/>
          <p:cNvSpPr/>
          <p:nvPr/>
        </p:nvSpPr>
        <p:spPr>
          <a:xfrm>
            <a:off x="10434828" y="169164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9841992" y="2350008"/>
            <a:ext cx="16977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Maintenance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9841992" y="2926080"/>
            <a:ext cx="1697736" cy="3246120"/>
          </a:xfrm>
          <a:prstGeom prst="roundRect">
            <a:avLst>
              <a:gd name="adj" fmla="val 3232"/>
            </a:avLst>
          </a:prstGeom>
          <a:solidFill>
            <a:srgbClr val="F6F8FC"/>
          </a:solidFill>
          <a:ln/>
        </p:spPr>
      </p:sp>
      <p:sp>
        <p:nvSpPr>
          <p:cNvPr id="38" name="Text 36"/>
          <p:cNvSpPr/>
          <p:nvPr/>
        </p:nvSpPr>
        <p:spPr>
          <a:xfrm>
            <a:off x="9951720" y="3063240"/>
            <a:ext cx="147828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Monitored processing logs; configured automated failure alerts to administrators.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BTP Integration — Employee Data Synchronization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Stories — Key Highlights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user stories captured across integration roles (full backlog in appendix)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05200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7373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US01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865120" y="173736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2057400"/>
            <a:ext cx="313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Integration Administrator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31520" y="2404872"/>
            <a:ext cx="3139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the iFlow automatically via Timer so processing needs no manual execution.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28160" y="1600200"/>
            <a:ext cx="3505200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11040" y="17373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US03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644640" y="173736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11040" y="2057400"/>
            <a:ext cx="313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Integration Developer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11040" y="2404872"/>
            <a:ext cx="3139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SuccessFactors employee fields to the required S/4HANA structure.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107680" y="1600200"/>
            <a:ext cx="3505200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290560" y="17373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US04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424160" y="173736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290560" y="2057400"/>
            <a:ext cx="313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S/4HANA User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290560" y="2404872"/>
            <a:ext cx="3139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employee records automatically to keep systems synchronized.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657600"/>
            <a:ext cx="3505200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31520" y="37947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US06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865120" y="379476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31520" y="4114800"/>
            <a:ext cx="313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User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31520" y="4462272"/>
            <a:ext cx="3139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employee data from XML to CSV for file-based use and reporting.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328160" y="3657600"/>
            <a:ext cx="3505200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511040" y="37947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US07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644640" y="379476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11040" y="4114800"/>
            <a:ext cx="313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External System User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511040" y="4462272"/>
            <a:ext cx="3139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the generated CSV via SFTP to share data securely.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107680" y="3657600"/>
            <a:ext cx="3505200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8290560" y="37947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US10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424160" y="379476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290560" y="4114800"/>
            <a:ext cx="313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Administrator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8290560" y="4462272"/>
            <a:ext cx="3139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integration errors using an Exception Subprocess.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BTP Integration — Employee Data Synchronization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Backlog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requirements and activities required to deliver the integration solution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4754880"/>
        </p:xfrm>
        <a:graphic>
          <a:graphicData uri="http://schemas.openxmlformats.org/drawingml/2006/table">
            <a:tbl>
              <a:tblPr/>
              <a:tblGrid>
                <a:gridCol w="1097280"/>
                <a:gridCol w="6858000"/>
                <a:gridCol w="1554480"/>
                <a:gridCol w="155448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Backlog Item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PB01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SAP BTP and i-Flow Setup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8A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PB02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Fetch Employee Data from SuccessFactors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8A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PB03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 Data to S/4HANA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8A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PB04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 Employee Record in S/4HANA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8A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PB05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 Required Fields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8A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PB06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XML to CSV Conversion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8A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PB07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SFTP and Email Output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B88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8A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PB08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Exception Handling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8A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PB09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Testing and Deployment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8A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BTP Integration — Employee Data Synchronization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Planning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delivered across 5 sprints — each with a clear goal and expected outcome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8680" y="2148840"/>
            <a:ext cx="10424160" cy="0"/>
          </a:xfrm>
          <a:prstGeom prst="line">
            <a:avLst/>
          </a:prstGeom>
          <a:noFill/>
          <a:ln w="381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35024" y="182880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1335024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40080" y="2697480"/>
            <a:ext cx="2029968" cy="356616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2834640"/>
            <a:ext cx="1755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77240" y="3127248"/>
            <a:ext cx="175564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Environment Setup &amp; iFlow Creation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4069080"/>
            <a:ext cx="1755648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SAP BTP CI environment and create the base integration flow.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547872" y="182880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3547872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2852928" y="2697480"/>
            <a:ext cx="2029968" cy="356616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990088" y="2834640"/>
            <a:ext cx="1755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990088" y="3127248"/>
            <a:ext cx="175564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SuccessFactors Retrieval &amp; Mapping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990088" y="4069080"/>
            <a:ext cx="1755648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employee data from SuccessFactors and transform it into the S/4HANA structure.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760720" y="182880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5760720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065776" y="2697480"/>
            <a:ext cx="2029968" cy="356616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202936" y="2834640"/>
            <a:ext cx="1755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3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202936" y="3127248"/>
            <a:ext cx="175564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S/4HANA Integration &amp; Field Mapping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202936" y="4069080"/>
            <a:ext cx="1755648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mapped data to S/4HANA, create records, and map required fields.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973568" y="182880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7973568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7278624" y="2697480"/>
            <a:ext cx="2029968" cy="356616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415784" y="2834640"/>
            <a:ext cx="1755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4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415784" y="3127248"/>
            <a:ext cx="175564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XML to CSV &amp; File Distribution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415784" y="4069080"/>
            <a:ext cx="1755648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processed data to CSV and distribute via SFTP and email.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10186416" y="182880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0" name="Text 28"/>
          <p:cNvSpPr/>
          <p:nvPr/>
        </p:nvSpPr>
        <p:spPr>
          <a:xfrm>
            <a:off x="10186416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9491472" y="2697480"/>
            <a:ext cx="2029968" cy="356616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9628632" y="2834640"/>
            <a:ext cx="1755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5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9628632" y="3127248"/>
            <a:ext cx="175564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Exception Handling, Testing &amp; Deployment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9628632" y="4069080"/>
            <a:ext cx="1755648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error handling, complete end-to-end testing, and deploy the final flow.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BTP Integration — Employee Data Synchronization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Integration Architecture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I-Flow 1 (Main):  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Timer Start → Fetch SF Records → Map SF to S/4HANA → Create Record → Map Required Fields → XML to CSV → Send to SFTP → Success Mail
</a:t>
            </a:r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I-Flow 2 (Exception):  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Start → Exception Message Body → Send Message to Mail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11064240" cy="4434840"/>
          </a:xfrm>
          <a:prstGeom prst="roundRect">
            <a:avLst>
              <a:gd name="adj" fmla="val 1031"/>
            </a:avLst>
          </a:prstGeom>
          <a:solidFill>
            <a:srgbClr val="F6F8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5" name="Image 0" descr="/home/claude/architectur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7240" y="2148840"/>
            <a:ext cx="10607040" cy="4069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BTP Integration — Employee Data Synchronization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Mapping SuccessFactors to S/4HANA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Source-to-target field mapping ensures employee data lands in S/4HANA in the correct structure.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6492240" cy="3566160"/>
        </p:xfrm>
        <a:graphic>
          <a:graphicData uri="http://schemas.openxmlformats.org/drawingml/2006/table">
            <a:tbl>
              <a:tblPr/>
              <a:tblGrid>
                <a:gridCol w="2103120"/>
                <a:gridCol w="2103120"/>
                <a:gridCol w="2286000"/>
              </a:tblGrid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 Field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Field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Mapping Expression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Mandt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Mandt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Constant → 500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Participant ID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Participantid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Nalumachu + ' ' + RahulSai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Employee Name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Sfempname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firstname + ' ' + lastname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City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City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city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Country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Country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country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315200" y="1645920"/>
            <a:ext cx="4297680" cy="3566160"/>
          </a:xfrm>
          <a:prstGeom prst="roundRect">
            <a:avLst>
              <a:gd name="adj" fmla="val 1538"/>
            </a:avLst>
          </a:prstGeom>
          <a:solidFill>
            <a:srgbClr val="1E2761"/>
          </a:solidFill>
          <a:ln/>
        </p:spPr>
      </p:sp>
      <p:sp>
        <p:nvSpPr>
          <p:cNvPr id="6" name="Text 3"/>
          <p:cNvSpPr/>
          <p:nvPr/>
        </p:nvSpPr>
        <p:spPr>
          <a:xfrm>
            <a:off x="7589520" y="18288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 Mapped Record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589520" y="2240280"/>
            <a:ext cx="374904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Mandt: 500</a:t>
            </a:r>
            <a:endParaRPr lang="en-US" sz="125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Participantid: Nalumachu RahulSai</a:t>
            </a:r>
            <a:endParaRPr lang="en-US" sz="125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Country: India</a:t>
            </a:r>
            <a:endParaRPr lang="en-US" sz="125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Sfempname: Harrison Skou</a:t>
            </a:r>
            <a:endParaRPr lang="en-US" sz="125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City: Chennai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BTP Integration — Employee Data Synchronization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Conversion &amp; Distribution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94960" cy="4892040"/>
          </a:xfrm>
          <a:prstGeom prst="roundRect">
            <a:avLst>
              <a:gd name="adj" fmla="val 1121"/>
            </a:avLst>
          </a:prstGeom>
          <a:solidFill>
            <a:srgbClr val="F6F8FC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5544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XML → CSV Conversion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196596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processed employee data into CSV for convenient file-based exchange and reporting.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822960" y="2606040"/>
            <a:ext cx="4846320" cy="1371600"/>
          </a:xfrm>
          <a:prstGeom prst="roundRect">
            <a:avLst>
              <a:gd name="adj" fmla="val 2667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2697480"/>
            <a:ext cx="44805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&lt;Employee&gt;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&lt;Mandt&gt;500&lt;/Mandt&gt;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&lt;Participantid&gt;Nalumachu RahulSai&lt;/Participantid&gt;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...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&lt;/Employee&gt;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22960" y="4114800"/>
            <a:ext cx="4846320" cy="1005840"/>
          </a:xfrm>
          <a:prstGeom prst="roundRect">
            <a:avLst>
              <a:gd name="adj" fmla="val 3636"/>
            </a:avLst>
          </a:prstGeom>
          <a:solidFill>
            <a:srgbClr val="0D1840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4206240"/>
            <a:ext cx="4480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BE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Mandt,Participantid,Country,Sfempname,City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BE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500,Nalumachu RahulSai,India,Harrison Skou,Chennai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22960" y="525780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because CSV files are convenient for file-based data exchange and reporting.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17920" y="1371600"/>
            <a:ext cx="5394960" cy="2331720"/>
          </a:xfrm>
          <a:prstGeom prst="roundRect">
            <a:avLst>
              <a:gd name="adj" fmla="val 2353"/>
            </a:avLst>
          </a:prstGeom>
          <a:solidFill>
            <a:srgbClr val="F6F8FC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155448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SFTP Delivery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92240" y="1920240"/>
            <a:ext cx="4846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SFTP Adapter securely transfers the generated CSV employee file to the configured SFTP server, providing reliable file-based integration.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17920" y="3931920"/>
            <a:ext cx="5394960" cy="2331720"/>
          </a:xfrm>
          <a:prstGeom prst="roundRect">
            <a:avLst>
              <a:gd name="adj" fmla="val 2353"/>
            </a:avLst>
          </a:prstGeom>
          <a:solidFill>
            <a:srgbClr val="F6F8FC"/>
          </a:solidFill>
          <a:ln/>
        </p:spPr>
      </p:sp>
      <p:sp>
        <p:nvSpPr>
          <p:cNvPr id="15" name="Text 13"/>
          <p:cNvSpPr/>
          <p:nvPr/>
        </p:nvSpPr>
        <p:spPr>
          <a:xfrm>
            <a:off x="6492240" y="411480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Email Notification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92240" y="4480560"/>
            <a:ext cx="4846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Mail branch sends employee information and success notifications, distributed alongside SFTP via Sequential Multicast in the same flow.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BTP Integration — Employee Data Synchronization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Exception Handling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processing error in the main flow is caught by the exception sub-process and emailed to the administrator.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423160" cy="1280160"/>
          </a:xfrm>
          <a:prstGeom prst="roundRect">
            <a:avLst>
              <a:gd name="adj" fmla="val 5000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920240"/>
            <a:ext cx="2148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Start Event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2971800" y="1920240"/>
            <a:ext cx="457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429000" y="1920240"/>
            <a:ext cx="2423160" cy="1280160"/>
          </a:xfrm>
          <a:prstGeom prst="roundRect">
            <a:avLst>
              <a:gd name="adj" fmla="val 5000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3566160" y="1920240"/>
            <a:ext cx="2148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Exception Info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852160" y="1920240"/>
            <a:ext cx="457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6309360" y="1920240"/>
            <a:ext cx="2423160" cy="1280160"/>
          </a:xfrm>
          <a:prstGeom prst="roundRect">
            <a:avLst>
              <a:gd name="adj" fmla="val 5000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1920240"/>
            <a:ext cx="2148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Exception Content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732520" y="1920240"/>
            <a:ext cx="457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9189720" y="1920240"/>
            <a:ext cx="2423160" cy="1280160"/>
          </a:xfrm>
          <a:prstGeom prst="roundRect">
            <a:avLst>
              <a:gd name="adj" fmla="val 5000"/>
            </a:avLst>
          </a:prstGeom>
          <a:solidFill>
            <a:srgbClr val="F4A300"/>
          </a:solidFill>
          <a:ln/>
        </p:spPr>
      </p:sp>
      <p:sp>
        <p:nvSpPr>
          <p:cNvPr id="14" name="Text 12"/>
          <p:cNvSpPr/>
          <p:nvPr/>
        </p:nvSpPr>
        <p:spPr>
          <a:xfrm>
            <a:off x="9326880" y="1920240"/>
            <a:ext cx="2148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Email Notification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48640" y="35661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Exception content includes: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0080" y="3977640"/>
            <a:ext cx="51206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message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reason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flow information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details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information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17920" y="3566160"/>
            <a:ext cx="5394960" cy="2697480"/>
          </a:xfrm>
          <a:prstGeom prst="roundRect">
            <a:avLst>
              <a:gd name="adj" fmla="val 203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92240" y="374904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 Flow End Events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92240" y="4160520"/>
            <a:ext cx="48463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SFTP End Event  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successful completion of the SFTP branch
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 End Event  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successful completion of the email branch
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End Event  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completion after error notification is generated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BTP Integration — Employee Data Synchronization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— Executed Test Cases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testing validated mapping logic, adapter connectivity, and exception handling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72100" cy="1965960"/>
          </a:xfrm>
          <a:prstGeom prst="roundRect">
            <a:avLst>
              <a:gd name="adj" fmla="val 3256"/>
            </a:avLst>
          </a:prstGeom>
          <a:solidFill>
            <a:srgbClr val="F6F8FC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7373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TC01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366260" y="173736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1F8A56"/>
          </a:solidFill>
          <a:ln/>
        </p:spPr>
      </p:sp>
      <p:sp>
        <p:nvSpPr>
          <p:cNvPr id="7" name="Text 5"/>
          <p:cNvSpPr/>
          <p:nvPr/>
        </p:nvSpPr>
        <p:spPr>
          <a:xfrm>
            <a:off x="4366260" y="173736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2103120"/>
            <a:ext cx="50063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 Execution (Happy Path)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31520" y="2514600"/>
            <a:ext cx="50063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S/4HANA returns 201 Created; SFTP receives the CSV; success email delivered.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40780" y="1600200"/>
            <a:ext cx="5372100" cy="1965960"/>
          </a:xfrm>
          <a:prstGeom prst="roundRect">
            <a:avLst>
              <a:gd name="adj" fmla="val 3256"/>
            </a:avLst>
          </a:prstGeom>
          <a:solidFill>
            <a:srgbClr val="F6F8FC"/>
          </a:solidFill>
          <a:ln/>
        </p:spPr>
      </p:sp>
      <p:sp>
        <p:nvSpPr>
          <p:cNvPr id="11" name="Text 9"/>
          <p:cNvSpPr/>
          <p:nvPr/>
        </p:nvSpPr>
        <p:spPr>
          <a:xfrm>
            <a:off x="6423660" y="17373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TC02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0058400" y="173736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F4A300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0" y="173736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23660" y="2103120"/>
            <a:ext cx="50063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Duplicate Key Rejection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423660" y="2514600"/>
            <a:ext cx="50063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Participantid triggers HTTP 400; Exception Subprocess alerts the administrator.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886200"/>
            <a:ext cx="5372100" cy="1965960"/>
          </a:xfrm>
          <a:prstGeom prst="roundRect">
            <a:avLst>
              <a:gd name="adj" fmla="val 3256"/>
            </a:avLst>
          </a:prstGeom>
          <a:solidFill>
            <a:srgbClr val="F6F8FC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0233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TC03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366260" y="402336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F4A300"/>
          </a:solidFill>
          <a:ln/>
        </p:spPr>
      </p:sp>
      <p:sp>
        <p:nvSpPr>
          <p:cNvPr id="19" name="Text 17"/>
          <p:cNvSpPr/>
          <p:nvPr/>
        </p:nvSpPr>
        <p:spPr>
          <a:xfrm>
            <a:off x="4366260" y="402336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1520" y="4389120"/>
            <a:ext cx="50063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 Timeout / Bad Gateway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731520" y="4800600"/>
            <a:ext cx="50063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S/4HANA unavailable triggers HTTP 502; exact error routed to administrator email.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40780" y="3886200"/>
            <a:ext cx="5372100" cy="1965960"/>
          </a:xfrm>
          <a:prstGeom prst="roundRect">
            <a:avLst>
              <a:gd name="adj" fmla="val 3256"/>
            </a:avLst>
          </a:prstGeom>
          <a:solidFill>
            <a:srgbClr val="F6F8FC"/>
          </a:solidFill>
          <a:ln/>
        </p:spPr>
      </p:sp>
      <p:sp>
        <p:nvSpPr>
          <p:cNvPr id="23" name="Text 21"/>
          <p:cNvSpPr/>
          <p:nvPr/>
        </p:nvSpPr>
        <p:spPr>
          <a:xfrm>
            <a:off x="6423660" y="40233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TC04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0058400" y="402336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F4A300"/>
          </a:solidFill>
          <a:ln/>
        </p:spPr>
      </p:sp>
      <p:sp>
        <p:nvSpPr>
          <p:cNvPr id="25" name="Text 23"/>
          <p:cNvSpPr/>
          <p:nvPr/>
        </p:nvSpPr>
        <p:spPr>
          <a:xfrm>
            <a:off x="10058400" y="402336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23660" y="4389120"/>
            <a:ext cx="50063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XML to CSV — Invalid File Path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6423660" y="4800600"/>
            <a:ext cx="50063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Incorrect Path to Source fails conversion before SFTP send; path corrected &amp; revalidated.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BTP Integration — Employee Data Synchronization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Defects &amp; Issue Resolution</a:t>
            </a:r>
            <a:endParaRPr lang="en-US" sz="3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5029200"/>
        </p:xfrm>
        <a:graphic>
          <a:graphicData uri="http://schemas.openxmlformats.org/drawingml/2006/table">
            <a:tbl>
              <a:tblPr/>
              <a:tblGrid>
                <a:gridCol w="1005840"/>
                <a:gridCol w="2560320"/>
                <a:gridCol w="2651760"/>
                <a:gridCol w="3749040"/>
                <a:gridCol w="1097280"/>
              </a:tblGrid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Defect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Resolution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BUG01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Incorrect field mapping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Incorrect target data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Corrected field mapping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8A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BUG02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format mismatch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processing failure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Corrected data transformation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8A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BUG03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Invalid employee payload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Processing failure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Added validation and error handling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8A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BUG04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CSV output format issue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Incorrect file generation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Corrected XML to CSV configuration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8A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BUG05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Exception not notified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 not identified quickly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Configured Exception Subprocess + email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8A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BUG06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 channel issue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File/email not delivered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Corrected receiver configuration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8A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BTP Integration — Employee Data Synchronization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Version Control &amp; Git Integration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72100" cy="2103120"/>
          </a:xfrm>
          <a:prstGeom prst="roundRect">
            <a:avLst>
              <a:gd name="adj" fmla="val 3043"/>
            </a:avLst>
          </a:prstGeom>
          <a:solidFill>
            <a:srgbClr val="F6F8FC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69164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17320" y="1664208"/>
            <a:ext cx="42748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Durable External Backup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2331720"/>
            <a:ext cx="49149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Exporting the finalized flow as a ZIP with XSD schemas and documentation to Git ensures a permanent, auditable backup outside the CPI tenant.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40780" y="1463040"/>
            <a:ext cx="5372100" cy="2103120"/>
          </a:xfrm>
          <a:prstGeom prst="roundRect">
            <a:avLst>
              <a:gd name="adj" fmla="val 3043"/>
            </a:avLst>
          </a:prstGeom>
          <a:solidFill>
            <a:srgbClr val="F6F8FC"/>
          </a:solidFill>
          <a:ln/>
        </p:spPr>
      </p:sp>
      <p:sp>
        <p:nvSpPr>
          <p:cNvPr id="9" name="Shape 7"/>
          <p:cNvSpPr/>
          <p:nvPr/>
        </p:nvSpPr>
        <p:spPr>
          <a:xfrm>
            <a:off x="6469380" y="169164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6469380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109460" y="1664208"/>
            <a:ext cx="42748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Iterative History &amp; Traceability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69380" y="2331720"/>
            <a:ext cx="49149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Maintains an immutable commit history tracking step-by-step refinements — mapping changes, converter fixes, receiver configs.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886200"/>
            <a:ext cx="5372100" cy="2103120"/>
          </a:xfrm>
          <a:prstGeom prst="roundRect">
            <a:avLst>
              <a:gd name="adj" fmla="val 3043"/>
            </a:avLst>
          </a:prstGeom>
          <a:solidFill>
            <a:srgbClr val="F6F8FC"/>
          </a:solidFill>
          <a:ln/>
        </p:spPr>
      </p:sp>
      <p:sp>
        <p:nvSpPr>
          <p:cNvPr id="14" name="Shape 12"/>
          <p:cNvSpPr/>
          <p:nvPr/>
        </p:nvSpPr>
        <p:spPr>
          <a:xfrm>
            <a:off x="777240" y="411480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4114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17320" y="4087368"/>
            <a:ext cx="42748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Reversion &amp; Rollback Safety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77240" y="4754880"/>
            <a:ext cx="49149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instant rollback to previously verified integration bundles without relying on ad-hoc manual copies.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40780" y="3886200"/>
            <a:ext cx="5372100" cy="2103120"/>
          </a:xfrm>
          <a:prstGeom prst="roundRect">
            <a:avLst>
              <a:gd name="adj" fmla="val 3043"/>
            </a:avLst>
          </a:prstGeom>
          <a:solidFill>
            <a:srgbClr val="F6F8FC"/>
          </a:solidFill>
          <a:ln/>
        </p:spPr>
      </p:sp>
      <p:sp>
        <p:nvSpPr>
          <p:cNvPr id="19" name="Shape 17"/>
          <p:cNvSpPr/>
          <p:nvPr/>
        </p:nvSpPr>
        <p:spPr>
          <a:xfrm>
            <a:off x="6469380" y="411480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6469380" y="4114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109460" y="4087368"/>
            <a:ext cx="42748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Collaborative CI/CD Readiness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69380" y="4754880"/>
            <a:ext cx="49149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multi-developer sync, branching workflows, and automated release pipelines for enterprise-grade governance.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BTP Integration — Employee Data Synchronization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26387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67665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integration successfully automates employee data synchronization from SAP SuccessFactors to SAP S/4HANA and securely delivers a payroll-ready CSV file to the SFTP server. Every adapter authenticates through centrally managed Security Material — no credential is exposed in the design artifact.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3429000"/>
            <a:ext cx="67665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exception handling protects the process end-to-end — HTTP 400 and 502 failures and converter errors were each reproduced, diagnosed, and resolved, with every failure automatically emailed to the administrator.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4937760"/>
            <a:ext cx="67665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Executed through Agile sprints and validated with structured, evidence-backed test cases, the solution meets all capstone requirements and is ready for production hardening.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863840" y="1325880"/>
            <a:ext cx="3749040" cy="1097280"/>
          </a:xfrm>
          <a:prstGeom prst="roundRect">
            <a:avLst>
              <a:gd name="adj" fmla="val 6667"/>
            </a:avLst>
          </a:prstGeom>
          <a:solidFill>
            <a:srgbClr val="263879"/>
          </a:solidFill>
          <a:ln/>
        </p:spPr>
      </p:sp>
      <p:sp>
        <p:nvSpPr>
          <p:cNvPr id="8" name="Text 6"/>
          <p:cNvSpPr/>
          <p:nvPr/>
        </p:nvSpPr>
        <p:spPr>
          <a:xfrm>
            <a:off x="8138160" y="1325880"/>
            <a:ext cx="1188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A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9326880" y="132588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Sprints Completed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863840" y="2670048"/>
            <a:ext cx="3749040" cy="1097280"/>
          </a:xfrm>
          <a:prstGeom prst="roundRect">
            <a:avLst>
              <a:gd name="adj" fmla="val 6667"/>
            </a:avLst>
          </a:prstGeom>
          <a:solidFill>
            <a:srgbClr val="263879"/>
          </a:solidFill>
          <a:ln/>
        </p:spPr>
      </p:sp>
      <p:sp>
        <p:nvSpPr>
          <p:cNvPr id="11" name="Text 9"/>
          <p:cNvSpPr/>
          <p:nvPr/>
        </p:nvSpPr>
        <p:spPr>
          <a:xfrm>
            <a:off x="8138160" y="2670048"/>
            <a:ext cx="1188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A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9326880" y="2670048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Stories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863840" y="4014216"/>
            <a:ext cx="3749040" cy="1097280"/>
          </a:xfrm>
          <a:prstGeom prst="roundRect">
            <a:avLst>
              <a:gd name="adj" fmla="val 6667"/>
            </a:avLst>
          </a:prstGeom>
          <a:solidFill>
            <a:srgbClr val="263879"/>
          </a:solidFill>
          <a:ln/>
        </p:spPr>
      </p:sp>
      <p:sp>
        <p:nvSpPr>
          <p:cNvPr id="14" name="Text 12"/>
          <p:cNvSpPr/>
          <p:nvPr/>
        </p:nvSpPr>
        <p:spPr>
          <a:xfrm>
            <a:off x="8138160" y="4014216"/>
            <a:ext cx="1188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A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9326880" y="4014216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 Validated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863840" y="5358384"/>
            <a:ext cx="3749040" cy="1097280"/>
          </a:xfrm>
          <a:prstGeom prst="roundRect">
            <a:avLst>
              <a:gd name="adj" fmla="val 6667"/>
            </a:avLst>
          </a:prstGeom>
          <a:solidFill>
            <a:srgbClr val="263879"/>
          </a:solidFill>
          <a:ln/>
        </p:spPr>
      </p:sp>
      <p:sp>
        <p:nvSpPr>
          <p:cNvPr id="17" name="Text 15"/>
          <p:cNvSpPr/>
          <p:nvPr/>
        </p:nvSpPr>
        <p:spPr>
          <a:xfrm>
            <a:off x="8138160" y="5358384"/>
            <a:ext cx="1188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A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9326880" y="5358384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Defects Resolved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2026-08-17T08:45:49Z</dcterms:created>
  <dcterms:modified xsi:type="dcterms:W3CDTF">2026-08-17T08:45:49Z</dcterms:modified>
</cp:coreProperties>
</file>